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3"/>
  </p:sldMasterIdLst>
  <p:notesMasterIdLst>
    <p:notesMasterId r:id="rId19"/>
  </p:notesMasterIdLst>
  <p:handoutMasterIdLst>
    <p:handoutMasterId r:id="rId20"/>
  </p:handoutMasterIdLst>
  <p:sldIdLst>
    <p:sldId id="298" r:id="rId4"/>
    <p:sldId id="283" r:id="rId5"/>
    <p:sldId id="297" r:id="rId6"/>
    <p:sldId id="284" r:id="rId7"/>
    <p:sldId id="299" r:id="rId8"/>
    <p:sldId id="292" r:id="rId9"/>
    <p:sldId id="302" r:id="rId10"/>
    <p:sldId id="303" r:id="rId11"/>
    <p:sldId id="301" r:id="rId12"/>
    <p:sldId id="300" r:id="rId13"/>
    <p:sldId id="304" r:id="rId14"/>
    <p:sldId id="293" r:id="rId15"/>
    <p:sldId id="305" r:id="rId16"/>
    <p:sldId id="306" r:id="rId17"/>
    <p:sldId id="296" r:id="rId18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574" autoAdjust="0"/>
  </p:normalViewPr>
  <p:slideViewPr>
    <p:cSldViewPr snapToGrid="0">
      <p:cViewPr varScale="1">
        <p:scale>
          <a:sx n="70" d="100"/>
          <a:sy n="70" d="100"/>
        </p:scale>
        <p:origin x="4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787AE-A2C6-4A28-BCC7-4D89EB21DEE5}" type="datetime1">
              <a:rPr lang="es-ES" smtClean="0"/>
              <a:t>12/04/2026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DA65D4-3BBC-4853-83D3-F449A9B7FDA5}" type="datetime1">
              <a:rPr lang="es-ES" noProof="0" smtClean="0"/>
              <a:t>12/04/2026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0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662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282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7180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5243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0067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3913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el 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9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Edite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es-ES" noProof="0"/>
              <a:t>Gracias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 dirty="0"/>
              <a:t>Nombre completo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14305637" y="8256875"/>
            <a:ext cx="1101450" cy="2452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PASAPORTE FI">
            <a:extLst>
              <a:ext uri="{FF2B5EF4-FFF2-40B4-BE49-F238E27FC236}">
                <a16:creationId xmlns:a16="http://schemas.microsoft.com/office/drawing/2014/main" id="{D3734618-2485-6925-5767-0B3B5DE8B13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0102" y="6360589"/>
            <a:ext cx="1979898" cy="442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 descr="Manos que se unen en un círculo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rtlCol="0"/>
          <a:lstStyle/>
          <a:p>
            <a:pPr rtl="0"/>
            <a:r>
              <a:rPr lang="es-ES" sz="5200" dirty="0"/>
              <a:t>¿Cómo nos metemos al mundo de los taxis?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pPr rtl="0"/>
            <a:r>
              <a:rPr lang="es-ES" dirty="0"/>
              <a:t>Javier Santos Monroy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 rtl="0">
              <a:buNone/>
            </a:pPr>
            <a:r>
              <a:rPr lang="es-ES" sz="2800" dirty="0"/>
              <a:t>Para entrar dentro de este ámbito debemos tener varias cosas en cuenta para empezar, las cuales serán nuestros objetivos</a:t>
            </a:r>
          </a:p>
          <a:p>
            <a:pPr rtl="0"/>
            <a:r>
              <a:rPr lang="es-ES" dirty="0"/>
              <a:t>Buscar dar opciones para mejorar los ingresos</a:t>
            </a:r>
          </a:p>
          <a:p>
            <a:pPr rtl="0"/>
            <a:r>
              <a:rPr lang="es-ES" dirty="0"/>
              <a:t>Analizar los datos que se nos muestran, prestando atención a la duración, distancia y tarifa de los viajes</a:t>
            </a:r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869" y="3625099"/>
            <a:ext cx="5168131" cy="1162800"/>
          </a:xfrm>
        </p:spPr>
        <p:txBody>
          <a:bodyPr rtlCol="0"/>
          <a:lstStyle/>
          <a:p>
            <a:pPr rtl="0"/>
            <a:r>
              <a:rPr lang="es-ES" sz="5200" dirty="0"/>
              <a:t>Inicios en el mundo del Transporte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ción de imagen 13" descr="Una persona que escribe una nota a mano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 rtlCol="0"/>
          <a:lstStyle/>
          <a:p>
            <a:pPr rtl="0"/>
            <a:r>
              <a:rPr lang="es-ES" sz="5200" dirty="0"/>
              <a:t>¿Por dónde empezar?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es-ES" dirty="0"/>
              <a:t>Explorando los datos que tenemos a nuestra disposición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es-MX" sz="2800" dirty="0"/>
              <a:t>La empresa no tiene claridad sobre los patrones de demanda, duración de viajes y generación de ingresos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dirty="0"/>
              <a:t>¿Qué haremos en esta presentación?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r>
              <a:rPr lang="es-ES" dirty="0"/>
              <a:t>Exploraremos los siguientes puntos con una base de datos de taxis amarillos en la ciudad de Nueva York, algunos de ellos se centran en las tarifas y otros en los viajes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42934"/>
            <a:ext cx="5472000" cy="360000"/>
          </a:xfrm>
        </p:spPr>
        <p:txBody>
          <a:bodyPr rtlCol="0"/>
          <a:lstStyle/>
          <a:p>
            <a:pPr rtl="0"/>
            <a:r>
              <a:rPr lang="es-ES" dirty="0"/>
              <a:t>Viajes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8"/>
            <a:ext cx="5472000" cy="2194694"/>
          </a:xfrm>
        </p:spPr>
        <p:txBody>
          <a:bodyPr rtlCol="0"/>
          <a:lstStyle/>
          <a:p>
            <a:r>
              <a:rPr lang="es-MX" dirty="0"/>
              <a:t>¿Cuánto dura un viaje típico?</a:t>
            </a:r>
          </a:p>
          <a:p>
            <a:r>
              <a:rPr lang="es-MX" dirty="0"/>
              <a:t>¿En qué horarios hay más viajes?</a:t>
            </a:r>
          </a:p>
          <a:p>
            <a:endParaRPr lang="es-ES" dirty="0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es-ES" dirty="0"/>
              <a:t>Ingresos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4</a:t>
            </a:fld>
            <a:endParaRPr lang="es-ES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70676669-344F-1F8D-B935-0326FEE462F8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6288001" y="2386737"/>
            <a:ext cx="543129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¿Qué factores </a:t>
            </a:r>
            <a:r>
              <a:rPr lang="es-MX" altLang="es-MX" dirty="0"/>
              <a:t>influyen</a:t>
            </a: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más en el precio del viaje?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¿Cómo se relacionan distancia, duración y tarifa?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s-MX" altLang="es-MX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5EF89-5616-CFC5-041E-C54DC3F5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Pensamientos iniciales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3ABB8E-2EC2-8B37-24F2-42594636AAE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s-MX" dirty="0"/>
              <a:t>Qué es lo que podríamos esperar del análisis?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49CAEC-CF48-88DE-B8EE-C2092DB1547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3C76FD-6329-DA03-1297-6FC4D2AB70E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5</a:t>
            </a:fld>
            <a:endParaRPr lang="es-ES" noProof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EBA4F61-DA3D-58A7-8501-9348F40C52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687" y="1480606"/>
            <a:ext cx="58050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 más demanda de viajes hay, el costo disminuye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B832DC6-AD10-F78D-2F5F-0491A2D88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6972" y="1619106"/>
            <a:ext cx="58050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dirty="0">
                <a:solidFill>
                  <a:schemeClr val="tx1"/>
                </a:solidFill>
                <a:latin typeface="Arial" panose="020B0604020202020204" pitchFamily="34" charset="0"/>
              </a:rPr>
              <a:t>La distancia y la duración esperada del viaje son los principales factores que determinan la tarifa</a:t>
            </a:r>
          </a:p>
        </p:txBody>
      </p:sp>
      <p:pic>
        <p:nvPicPr>
          <p:cNvPr id="2051" name="Picture 3" descr="El origen de los ingresos también importa - Números de Erario">
            <a:extLst>
              <a:ext uri="{FF2B5EF4-FFF2-40B4-BE49-F238E27FC236}">
                <a16:creationId xmlns:a16="http://schemas.microsoft.com/office/drawing/2014/main" id="{BFEC4C33-31E1-7FA7-09B4-CAA382CFA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470" y="2599544"/>
            <a:ext cx="5129059" cy="2596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oeficiente de correlación: qué es, fórmulas, cálculo, interpretación">
            <a:extLst>
              <a:ext uri="{FF2B5EF4-FFF2-40B4-BE49-F238E27FC236}">
                <a16:creationId xmlns:a16="http://schemas.microsoft.com/office/drawing/2014/main" id="{56975F2F-4D23-9C61-A14D-010856F2D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455" y="2516543"/>
            <a:ext cx="4032060" cy="251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022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sz="5200" dirty="0"/>
              <a:t>Exploración de datos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4148792"/>
            <a:ext cx="5956300" cy="1100565"/>
          </a:xfrm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20AB6-8EE1-5997-D1A8-38B33E2AE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¿Cómo cambia la tarifa en el día?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001769-7C22-92DF-CA3A-A8F49D2C64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BEAF77-1EE3-B67A-1D52-72DCEA16B76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7</a:t>
            </a:fld>
            <a:endParaRPr lang="es-ES" noProof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3021640-057B-D565-79F4-E5C6620D6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525" y="942596"/>
            <a:ext cx="6151043" cy="4447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s-MX" altLang="es-MX" sz="27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</a:t>
            </a: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D3AE5B4-A401-CAAE-C5F8-93662F16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00" y="864000"/>
            <a:ext cx="7160978" cy="5656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El paso del tiempo - Blog Cartif">
            <a:extLst>
              <a:ext uri="{FF2B5EF4-FFF2-40B4-BE49-F238E27FC236}">
                <a16:creationId xmlns:a16="http://schemas.microsoft.com/office/drawing/2014/main" id="{5A3FA636-B9D0-A546-376E-04AA5C9C5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5503" y="1166016"/>
            <a:ext cx="3420789" cy="4525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95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F37FA-D08A-5C7D-76D8-00621565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¿En qué horas tenemos más viajes?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856ACF-5FE1-99F6-BB8C-C27EBEE13A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A8C284-47F7-3CB1-7EF6-29910C1EEE1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8</a:t>
            </a:fld>
            <a:endParaRPr lang="es-ES" noProof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9ECAD4A-82AD-5614-1FA8-60ABBCC6E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560" y="864000"/>
            <a:ext cx="6339332" cy="489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Vector de Stock Empleado oficinista mirando el reloj de pared con taza de  café | Adobe Stock">
            <a:extLst>
              <a:ext uri="{FF2B5EF4-FFF2-40B4-BE49-F238E27FC236}">
                <a16:creationId xmlns:a16="http://schemas.microsoft.com/office/drawing/2014/main" id="{0336ADE2-2E81-2A2D-EFA3-5E2CA18E3D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"/>
          <a:stretch>
            <a:fillRect/>
          </a:stretch>
        </p:blipFill>
        <p:spPr bwMode="auto">
          <a:xfrm>
            <a:off x="281875" y="1483746"/>
            <a:ext cx="5171685" cy="3890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8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526B6-631F-A5B7-EF47-8FC9E17F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 cantidad de viajes y el precio van de la mano?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C2C4BE-4CA3-A833-B734-7E5F14D2983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67850B-4451-B058-BB54-01380B4289E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9</a:t>
            </a:fld>
            <a:endParaRPr lang="es-ES" noProof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029737F-756C-60AA-6F51-0B58C00E8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83" y="1130543"/>
            <a:ext cx="6532728" cy="5240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E225B4E-43B1-FFAF-FBA1-ACDB7CDA151E}"/>
              </a:ext>
            </a:extLst>
          </p:cNvPr>
          <p:cNvSpPr txBox="1"/>
          <p:nvPr/>
        </p:nvSpPr>
        <p:spPr>
          <a:xfrm>
            <a:off x="7219866" y="1459468"/>
            <a:ext cx="474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Mientras uno sube, el otro baja</a:t>
            </a:r>
          </a:p>
        </p:txBody>
      </p:sp>
      <p:pic>
        <p:nvPicPr>
          <p:cNvPr id="4100" name="Picture 4" descr="Gráfico de subida y bajada | Vector Premium">
            <a:extLst>
              <a:ext uri="{FF2B5EF4-FFF2-40B4-BE49-F238E27FC236}">
                <a16:creationId xmlns:a16="http://schemas.microsoft.com/office/drawing/2014/main" id="{0D637FFC-B36C-D442-2E3A-16BAB3BBD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400" y="1975005"/>
            <a:ext cx="3725638" cy="372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86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B0835-0CA0-C4E6-F7E0-A166B11C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Relación entre las variables del viaje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80E1F2-B379-5B35-AA10-616B7044ABA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685A43-B61D-42DD-3EAE-77754D1FBFC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10</a:t>
            </a:fld>
            <a:endParaRPr lang="es-ES" noProof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6A9A336-7E5C-7BDC-6E35-99D824539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38" y="951625"/>
            <a:ext cx="6629400" cy="5419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061956A-8C15-C4FB-ACBA-BA57EEC2FFCE}"/>
              </a:ext>
            </a:extLst>
          </p:cNvPr>
          <p:cNvSpPr txBox="1"/>
          <p:nvPr/>
        </p:nvSpPr>
        <p:spPr>
          <a:xfrm>
            <a:off x="7272339" y="1185863"/>
            <a:ext cx="4057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duración del viaje no influye significativamente en el costo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tarifa depende en gran medida de la distancia del viaje</a:t>
            </a:r>
          </a:p>
        </p:txBody>
      </p:sp>
      <p:pic>
        <p:nvPicPr>
          <p:cNvPr id="3076" name="Picture 4" descr="Distancia (en Física): qué es, fórmula y diferencia con desplazamiento -  Enciclopedia Significados">
            <a:extLst>
              <a:ext uri="{FF2B5EF4-FFF2-40B4-BE49-F238E27FC236}">
                <a16:creationId xmlns:a16="http://schemas.microsoft.com/office/drawing/2014/main" id="{2F2178E1-9EAB-B5B4-46B7-4F0672102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504" y="2708055"/>
            <a:ext cx="3817516" cy="286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668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1E21D4-85BB-C64C-A29B-A884973B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¿Cuánto duran los viajes?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15F676-A8AB-36F0-BDCC-EED0BA75E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1FA153-7568-BD2B-872B-C6C73FBEEF6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11</a:t>
            </a:fld>
            <a:endParaRPr lang="es-ES" noProof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CA610F14-B010-28B8-F9CA-703DD7213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355" y="864000"/>
            <a:ext cx="8903069" cy="488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9855176-CA93-57D1-28BF-3A17DCA9DB9B}"/>
              </a:ext>
            </a:extLst>
          </p:cNvPr>
          <p:cNvSpPr txBox="1"/>
          <p:nvPr/>
        </p:nvSpPr>
        <p:spPr>
          <a:xfrm>
            <a:off x="346159" y="5624668"/>
            <a:ext cx="11845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Alrededor del 95% de los viajes duran menos de 30 minutos. La gráfica se hizo tomando en cuenta solamente este 95%</a:t>
            </a:r>
          </a:p>
        </p:txBody>
      </p:sp>
    </p:spTree>
    <p:extLst>
      <p:ext uri="{BB962C8B-B14F-4D97-AF65-F5344CB8AC3E}">
        <p14:creationId xmlns:p14="http://schemas.microsoft.com/office/powerpoint/2010/main" val="1523144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Elogio de la duda | Actualidad | Cadena SER">
            <a:extLst>
              <a:ext uri="{FF2B5EF4-FFF2-40B4-BE49-F238E27FC236}">
                <a16:creationId xmlns:a16="http://schemas.microsoft.com/office/drawing/2014/main" id="{D8876135-9E0E-8B97-EDAB-623D21210BF4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0" b="6520"/>
          <a:stretch>
            <a:fillRect/>
          </a:stretch>
        </p:blipFill>
        <p:spPr bwMode="auto">
          <a:xfrm>
            <a:off x="-1700" y="0"/>
            <a:ext cx="10294960" cy="637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401" y="0"/>
            <a:ext cx="4903599" cy="1958400"/>
          </a:xfrm>
        </p:spPr>
        <p:txBody>
          <a:bodyPr rtlCol="0"/>
          <a:lstStyle/>
          <a:p>
            <a:pPr rtl="0"/>
            <a:r>
              <a:rPr lang="es-MX" sz="5200" dirty="0"/>
              <a:t>¿Qué hacemos con esta información?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288401" y="1958400"/>
            <a:ext cx="4902200" cy="1100565"/>
          </a:xfrm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A801D4-5671-240F-F19C-AD1D279F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 que hemos averiguado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816CDA-6208-A955-1920-F41774FAC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tarifas suben entre menos viajes se realicen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2A61BB-9A7E-716C-DC98-3149D2BA05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MX" dirty="0"/>
              <a:t>La duración del viaje no tiene relación con la tarifa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0A8107E1-CA19-DE80-BE61-F11834FD3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MX" dirty="0"/>
              <a:t>Tenemos conocimiento de las horas pico</a:t>
            </a: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C1C9EB2F-1F9F-CD2D-EC44-AFD7013D3B1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3567D7DC-A614-5BFF-9FE9-29F0BACAF7F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13</a:t>
            </a:fld>
            <a:endParaRPr lang="es-ES" noProof="0"/>
          </a:p>
        </p:txBody>
      </p:sp>
      <p:pic>
        <p:nvPicPr>
          <p:cNvPr id="9218" name="Picture 2" descr="reloj con llamas indicando urgente o pico hora 54388694 Vector en Vecteezy">
            <a:extLst>
              <a:ext uri="{FF2B5EF4-FFF2-40B4-BE49-F238E27FC236}">
                <a16:creationId xmlns:a16="http://schemas.microsoft.com/office/drawing/2014/main" id="{0ECD269A-A2FB-76C5-AE24-F9D52CEF0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7890" y="2558756"/>
            <a:ext cx="2787769" cy="278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6D0FF62-AC59-64BC-56CD-1AC7466D8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715" y="2778258"/>
            <a:ext cx="2568266" cy="2568266"/>
          </a:xfrm>
          <a:prstGeom prst="rect">
            <a:avLst/>
          </a:prstGeom>
        </p:spPr>
      </p:pic>
      <p:pic>
        <p:nvPicPr>
          <p:cNvPr id="11" name="Picture 4" descr="Gráfico de subida y bajada | Vector Premium">
            <a:extLst>
              <a:ext uri="{FF2B5EF4-FFF2-40B4-BE49-F238E27FC236}">
                <a16:creationId xmlns:a16="http://schemas.microsoft.com/office/drawing/2014/main" id="{D176624B-0ECD-C0B2-213F-F464FBD08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81" y="2089821"/>
            <a:ext cx="3725638" cy="372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232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4131B-035D-D4B5-2E0C-65CD04D31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Plan para mejorar los ingresos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3CA1748-5098-B918-B53F-DB79A1021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000" y="1194709"/>
            <a:ext cx="5472000" cy="825650"/>
          </a:xfrm>
        </p:spPr>
        <p:txBody>
          <a:bodyPr/>
          <a:lstStyle/>
          <a:p>
            <a:r>
              <a:rPr lang="es-MX" dirty="0"/>
              <a:t>Proponemos el desarrollo de alguna herramienta para que los conductores de los taxis tomen la ruta óptima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5BB97AF2-21A9-08AD-FF01-CF331C00D3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11638" y="4684410"/>
            <a:ext cx="5472113" cy="753420"/>
          </a:xfrm>
        </p:spPr>
        <p:txBody>
          <a:bodyPr/>
          <a:lstStyle/>
          <a:p>
            <a:r>
              <a:rPr lang="es-MX" dirty="0"/>
              <a:t>Buscar la publicidad de nuestro servicio, para un beneficio donde todos podamos ganar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D35651E-17BE-24BB-8DDE-C75B8762EEB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E34635F-1E8F-7E69-6B9B-2B8A534B6B9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rtl="0"/>
            <a:fld id="{19B51A1E-902D-48AF-9020-955120F399B6}" type="slidenum">
              <a:rPr lang="es-ES" noProof="0" smtClean="0"/>
              <a:pPr rtl="0"/>
              <a:t>14</a:t>
            </a:fld>
            <a:endParaRPr lang="es-ES" noProof="0"/>
          </a:p>
        </p:txBody>
      </p:sp>
      <p:pic>
        <p:nvPicPr>
          <p:cNvPr id="10242" name="Picture 2" descr="Planificador de rutas | DispatchTrack">
            <a:extLst>
              <a:ext uri="{FF2B5EF4-FFF2-40B4-BE49-F238E27FC236}">
                <a16:creationId xmlns:a16="http://schemas.microsoft.com/office/drawing/2014/main" id="{7BABAB5C-8A94-5B75-A306-38A5E19C0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82" y="2020359"/>
            <a:ext cx="5070488" cy="3417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EFE7F4A5-5FC9-B331-FDE8-64EDCD177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886" y="1194709"/>
            <a:ext cx="5295616" cy="2965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616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Marcador de posición de imagen 31" descr="manos aplaudie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sz="5200" dirty="0"/>
              <a:t>Gracias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0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9" ma:contentTypeDescription="Create a new document." ma:contentTypeScope="" ma:versionID="76e25e1730b4532ab1d5e5b131a96a5a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d1e9281a84c4949647088091c718de3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64A4C9D-F801-4923-BC6D-E0006F5123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B2218FC-8412-44B9-9E82-D51F1F531141}">
  <ds:schemaRefs>
    <ds:schemaRef ds:uri="http://purl.org/dc/elements/1.1/"/>
    <ds:schemaRef ds:uri="http://schemas.microsoft.com/sharepoint/v3"/>
    <ds:schemaRef ds:uri="http://schemas.microsoft.com/office/2006/documentManagement/types"/>
    <ds:schemaRef ds:uri="fb0879af-3eba-417a-a55a-ffe6dcd6ca77"/>
    <ds:schemaRef ds:uri="http://schemas.microsoft.com/office/2006/metadata/properties"/>
    <ds:schemaRef ds:uri="http://schemas.microsoft.com/office/infopath/2007/PartnerControls"/>
    <ds:schemaRef ds:uri="6dc4bcd6-49db-4c07-9060-8acfc67cef9f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{97F4CF49-872B-40C8-8CCC-58EAEE55EE48}TF992e0334-4647-4579-8d14-183019b0908cc11ea5a0_win32-8afc8497b335</Template>
  <TotalTime>293</TotalTime>
  <Words>441</Words>
  <Application>Microsoft Office PowerPoint</Application>
  <PresentationFormat>Panorámica</PresentationFormat>
  <Paragraphs>75</Paragraphs>
  <Slides>15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Candara</vt:lpstr>
      <vt:lpstr>Corbel</vt:lpstr>
      <vt:lpstr>Times New Roman</vt:lpstr>
      <vt:lpstr>Personalizado</vt:lpstr>
      <vt:lpstr>¿Cómo nos metemos al mundo de los taxis?</vt:lpstr>
      <vt:lpstr>Inicios en el mundo del Transporte</vt:lpstr>
      <vt:lpstr>¿Por dónde empezar?</vt:lpstr>
      <vt:lpstr>¿Qué haremos en esta presentación?</vt:lpstr>
      <vt:lpstr>Pensamientos iniciales</vt:lpstr>
      <vt:lpstr>Exploración de datos</vt:lpstr>
      <vt:lpstr>¿Cómo cambia la tarifa en el día?</vt:lpstr>
      <vt:lpstr>¿En qué horas tenemos más viajes?</vt:lpstr>
      <vt:lpstr>La cantidad de viajes y el precio van de la mano?</vt:lpstr>
      <vt:lpstr>Relación entre las variables del viaje</vt:lpstr>
      <vt:lpstr>¿Cuánto duran los viajes?</vt:lpstr>
      <vt:lpstr>¿Qué hacemos con esta información?</vt:lpstr>
      <vt:lpstr>Lo que hemos averiguado</vt:lpstr>
      <vt:lpstr>Plan para mejorar los ingresos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Gerardo Santos Rodriguez</dc:creator>
  <cp:lastModifiedBy>Javier Gerardo Santos Rodriguez</cp:lastModifiedBy>
  <cp:revision>4</cp:revision>
  <dcterms:created xsi:type="dcterms:W3CDTF">2026-04-03T20:10:20Z</dcterms:created>
  <dcterms:modified xsi:type="dcterms:W3CDTF">2026-04-13T03:00:05Z</dcterms:modified>
</cp:coreProperties>
</file>